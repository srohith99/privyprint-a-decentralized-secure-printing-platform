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9" r:id="rId4"/>
    <p:sldId id="258" r:id="rId5"/>
    <p:sldId id="261" r:id="rId6"/>
    <p:sldId id="262" r:id="rId7"/>
    <p:sldId id="272" r:id="rId8"/>
    <p:sldId id="263" r:id="rId9"/>
    <p:sldId id="264" r:id="rId10"/>
    <p:sldId id="265" r:id="rId11"/>
    <p:sldId id="266" r:id="rId12"/>
    <p:sldId id="275" r:id="rId13"/>
    <p:sldId id="270" r:id="rId14"/>
    <p:sldId id="271" r:id="rId15"/>
    <p:sldId id="273" r:id="rId16"/>
    <p:sldId id="274" r:id="rId17"/>
    <p:sldId id="267" r:id="rId18"/>
    <p:sldId id="268" r:id="rId19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6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30791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085501925" y="-2147483648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-2085501925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50" tIns="54125" rIns="108250" bIns="54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" name="Google Shape;10;p1:notes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250" tIns="54125" rIns="108250" bIns="54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579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085501925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085501925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265" tIns="54132" rIns="108265" bIns="54132"/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7172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265" tIns="54132" rIns="108265" bIns="54132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79475" indent="-33813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352550" indent="-2698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93888" indent="-2698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5225" indent="-2698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2425" indent="-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49625" indent="-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6825" indent="-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4025" indent="-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414FE1A4-293F-4758-BAC1-634939F5DD8E}" type="slidenum">
              <a:rPr lang="en-US"/>
              <a:pPr eaLnBrk="1" hangingPunct="1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65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031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001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94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085501925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085501925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265" tIns="54132" rIns="108265" bIns="54132"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7412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265" tIns="54132" rIns="108265" bIns="54132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79475" indent="-33813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352550" indent="-2698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93888" indent="-2698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5225" indent="-2698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2425" indent="-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49625" indent="-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6825" indent="-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4025" indent="-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4EAB41B7-93FA-4D46-8E5E-BB92A69DD806}" type="slidenum">
              <a:rPr lang="en-US"/>
              <a:pPr eaLnBrk="1" hangingPunct="1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737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085501925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085501925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265" tIns="54132" rIns="108265" bIns="54132"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9460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265" tIns="54132" rIns="108265" bIns="54132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79475" indent="-33813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352550" indent="-2698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93888" indent="-2698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5225" indent="-2698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2425" indent="-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49625" indent="-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6825" indent="-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4025" indent="-2698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BDE9D874-FBC8-4B64-B260-FAAA76A20358}" type="slidenum">
              <a:rPr lang="en-US"/>
              <a:pPr eaLnBrk="1" hangingPunct="1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05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/>
        </p:nvSpPr>
        <p:spPr>
          <a:xfrm>
            <a:off x="274637" y="207962"/>
            <a:ext cx="85947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 (IoT &amp; Cybersecurity including Blockchain)</a:t>
            </a:r>
            <a:endParaRPr/>
          </a:p>
        </p:txBody>
      </p:sp>
      <p:sp>
        <p:nvSpPr>
          <p:cNvPr id="13" name="Google Shape;13;p3"/>
          <p:cNvSpPr txBox="1"/>
          <p:nvPr/>
        </p:nvSpPr>
        <p:spPr>
          <a:xfrm>
            <a:off x="274637" y="490537"/>
            <a:ext cx="85947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B.M.S. College of Engineering, Bengaluru</a:t>
            </a:r>
            <a:endParaRPr/>
          </a:p>
        </p:txBody>
      </p:sp>
      <p:sp>
        <p:nvSpPr>
          <p:cNvPr id="14" name="Google Shape;14;p3"/>
          <p:cNvSpPr txBox="1"/>
          <p:nvPr/>
        </p:nvSpPr>
        <p:spPr>
          <a:xfrm>
            <a:off x="0" y="798512"/>
            <a:ext cx="9144000" cy="44400"/>
          </a:xfrm>
          <a:prstGeom prst="rect">
            <a:avLst/>
          </a:prstGeom>
          <a:solidFill>
            <a:srgbClr val="00C2E0"/>
          </a:solidFill>
          <a:ln w="12700" cap="flat" cmpd="sng">
            <a:solidFill>
              <a:srgbClr val="00C2E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274637" y="1006475"/>
            <a:ext cx="8594700" cy="11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Font typeface="Times New Roman"/>
              <a:buNone/>
            </a:pPr>
            <a:r>
              <a:rPr lang="en-US" sz="8000" b="1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AROS</a:t>
            </a:r>
            <a:endParaRPr/>
          </a:p>
        </p:txBody>
      </p:sp>
      <p:sp>
        <p:nvSpPr>
          <p:cNvPr id="16" name="Google Shape;16;p3"/>
          <p:cNvSpPr txBox="1"/>
          <p:nvPr/>
        </p:nvSpPr>
        <p:spPr>
          <a:xfrm>
            <a:off x="274637" y="2032000"/>
            <a:ext cx="859470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Resilience &amp; Operational Security For </a:t>
            </a:r>
            <a:r>
              <a:rPr lang="en-US" sz="14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WindowsOS</a:t>
            </a:r>
            <a:r>
              <a:rPr lang="en-US" sz="1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Based Systems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PHASE - 1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Behavioral Drift Detection Framework</a:t>
            </a:r>
            <a:r>
              <a:rPr lang="en-US" sz="1100" b="0" i="0" u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365125" y="2543175"/>
            <a:ext cx="85947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23IC6PWPP1 | Major Project Phase-1 | 6th Semester | AY 2025–26</a:t>
            </a:r>
            <a:endParaRPr dirty="0"/>
          </a:p>
        </p:txBody>
      </p:sp>
      <p:sp>
        <p:nvSpPr>
          <p:cNvPr id="18" name="Google Shape;18;p3"/>
          <p:cNvSpPr txBox="1"/>
          <p:nvPr/>
        </p:nvSpPr>
        <p:spPr>
          <a:xfrm rot="10800000" flipH="1">
            <a:off x="0" y="3148149"/>
            <a:ext cx="9144000" cy="45900"/>
          </a:xfrm>
          <a:prstGeom prst="rect">
            <a:avLst/>
          </a:prstGeom>
          <a:solidFill>
            <a:srgbClr val="0096B4"/>
          </a:solidFill>
          <a:ln w="12700" cap="flat" cmpd="sng">
            <a:solidFill>
              <a:srgbClr val="0096B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1096962" y="3313112"/>
            <a:ext cx="21954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Rohith</a:t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1096962" y="3560762"/>
            <a:ext cx="219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1BM23IC057</a:t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3565525" y="3313112"/>
            <a:ext cx="21954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V Yogeswar Reddy</a:t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3565525" y="3560762"/>
            <a:ext cx="219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1BM23IC045</a:t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6035675" y="3313112"/>
            <a:ext cx="21939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Dadapir N F</a:t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6035675" y="3560762"/>
            <a:ext cx="2193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1BM24IC400</a:t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1371600" y="3948112"/>
            <a:ext cx="6400800" cy="28500"/>
          </a:xfrm>
          <a:prstGeom prst="rect">
            <a:avLst/>
          </a:prstGeom>
          <a:solidFill>
            <a:srgbClr val="0096B4"/>
          </a:solidFill>
          <a:ln w="12700" cap="flat" cmpd="sng">
            <a:solidFill>
              <a:srgbClr val="0096B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274637" y="4094162"/>
            <a:ext cx="85947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Guide: Prof. Susmitha Mukund Kirsur, Assistant Professor, Dept. of CSE (ICB), BMSCE.</a:t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274637" y="4754562"/>
            <a:ext cx="85947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US" sz="1400" b="0" i="0" u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2026</a:t>
            </a:r>
            <a:endParaRPr dirty="0"/>
          </a:p>
        </p:txBody>
      </p:sp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72" y="22199"/>
            <a:ext cx="769937" cy="75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Table of Contents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868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Phase 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4983480"/>
            <a:ext cx="777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6032" y="914400"/>
            <a:ext cx="42245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914400"/>
            <a:ext cx="475488" cy="11155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914400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4672" y="10241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Motivation &amp; Problem </a:t>
            </a:r>
            <a:r>
              <a:rPr lang="en-US" sz="12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672" y="135331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Runtime security gap &amp; motivating threat class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82312" y="916611"/>
            <a:ext cx="42245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82312" y="916611"/>
            <a:ext cx="475488" cy="11155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916611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30952" y="1026339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System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30952" y="1355523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core concept, scope, and innovation differentiator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56032" y="2139696"/>
            <a:ext cx="42245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139696"/>
            <a:ext cx="475488" cy="11155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139696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4672" y="224942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4672" y="257860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O1–O4: Measurable Phase-1 research targets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06930" y="2139696"/>
            <a:ext cx="42245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6930" y="2139696"/>
            <a:ext cx="475488" cy="11155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6930" y="2139696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55570" y="224942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High-Level Design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55570" y="257860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5-layer architecture, system flow, tools, evaluation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256032" y="3511296"/>
            <a:ext cx="42245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13"/>
          <p:cNvSpPr/>
          <p:nvPr/>
        </p:nvSpPr>
        <p:spPr>
          <a:xfrm>
            <a:off x="256032" y="3511296"/>
            <a:ext cx="475488" cy="11155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41" name="Text 14"/>
          <p:cNvSpPr/>
          <p:nvPr/>
        </p:nvSpPr>
        <p:spPr>
          <a:xfrm>
            <a:off x="256032" y="3511296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804672" y="362102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Gaps in Existing System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804672" y="395020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G1–G6: Six identified research &amp; tooling gaps (2025–26)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"/>
          <p:cNvSpPr>
            <a:spLocks noChangeArrowheads="1"/>
          </p:cNvSpPr>
          <p:nvPr/>
        </p:nvSpPr>
        <p:spPr bwMode="auto">
          <a:xfrm>
            <a:off x="0" y="4887913"/>
            <a:ext cx="9144000" cy="274637"/>
          </a:xfrm>
          <a:prstGeom prst="rect">
            <a:avLst/>
          </a:prstGeom>
          <a:solidFill>
            <a:srgbClr val="0D2241"/>
          </a:solidFill>
          <a:ln w="12700">
            <a:solidFill>
              <a:srgbClr val="0D224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7" name="Text 2"/>
          <p:cNvSpPr>
            <a:spLocks noChangeArrowheads="1"/>
          </p:cNvSpPr>
          <p:nvPr/>
        </p:nvSpPr>
        <p:spPr bwMode="auto">
          <a:xfrm>
            <a:off x="-355600" y="4946650"/>
            <a:ext cx="46037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80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Text 3"/>
          <p:cNvSpPr>
            <a:spLocks noChangeArrowheads="1"/>
          </p:cNvSpPr>
          <p:nvPr/>
        </p:nvSpPr>
        <p:spPr bwMode="auto">
          <a:xfrm>
            <a:off x="274638" y="136525"/>
            <a:ext cx="85947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9" name="Shape 4"/>
          <p:cNvSpPr>
            <a:spLocks noChangeArrowheads="1"/>
          </p:cNvSpPr>
          <p:nvPr/>
        </p:nvSpPr>
        <p:spPr bwMode="auto">
          <a:xfrm>
            <a:off x="274638" y="622300"/>
            <a:ext cx="3200400" cy="36513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675" y="914400"/>
            <a:ext cx="2651125" cy="1325563"/>
          </a:xfrm>
          <a:prstGeom prst="rect">
            <a:avLst/>
          </a:prstGeom>
          <a:solidFill>
            <a:srgbClr val="0D2B4E"/>
          </a:solidFill>
          <a:ln w="12700">
            <a:solidFill>
              <a:srgbClr val="00C2E0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151" name="Text 6"/>
          <p:cNvSpPr>
            <a:spLocks noChangeArrowheads="1"/>
          </p:cNvSpPr>
          <p:nvPr/>
        </p:nvSpPr>
        <p:spPr bwMode="auto">
          <a:xfrm>
            <a:off x="320675" y="904875"/>
            <a:ext cx="26511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00C2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600%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52" name="Text 7"/>
          <p:cNvSpPr>
            <a:spLocks noChangeArrowheads="1"/>
          </p:cNvSpPr>
          <p:nvPr/>
        </p:nvSpPr>
        <p:spPr bwMode="auto">
          <a:xfrm>
            <a:off x="320675" y="1343025"/>
            <a:ext cx="2651125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Rise in ransomware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en-US" sz="14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attacks (2019–2026)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438" y="914400"/>
            <a:ext cx="2651125" cy="1325563"/>
          </a:xfrm>
          <a:prstGeom prst="rect">
            <a:avLst/>
          </a:prstGeom>
          <a:solidFill>
            <a:srgbClr val="0D2B4E"/>
          </a:solidFill>
          <a:ln w="12700">
            <a:solidFill>
              <a:srgbClr val="00C2E0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154" name="Text 9"/>
          <p:cNvSpPr>
            <a:spLocks noChangeArrowheads="1"/>
          </p:cNvSpPr>
          <p:nvPr/>
        </p:nvSpPr>
        <p:spPr bwMode="auto">
          <a:xfrm>
            <a:off x="3246438" y="922338"/>
            <a:ext cx="26511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00C2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287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55" name="Text 10"/>
          <p:cNvSpPr>
            <a:spLocks noChangeArrowheads="1"/>
          </p:cNvSpPr>
          <p:nvPr/>
        </p:nvSpPr>
        <p:spPr bwMode="auto">
          <a:xfrm>
            <a:off x="3246438" y="1346200"/>
            <a:ext cx="2651125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days to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en-US" sz="14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a breach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914400"/>
            <a:ext cx="2651125" cy="1325563"/>
          </a:xfrm>
          <a:prstGeom prst="rect">
            <a:avLst/>
          </a:prstGeom>
          <a:solidFill>
            <a:srgbClr val="0D2B4E"/>
          </a:solidFill>
          <a:ln w="12700">
            <a:solidFill>
              <a:srgbClr val="00C2E0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157" name="Text 12"/>
          <p:cNvSpPr>
            <a:spLocks noChangeArrowheads="1"/>
          </p:cNvSpPr>
          <p:nvPr/>
        </p:nvSpPr>
        <p:spPr bwMode="auto">
          <a:xfrm>
            <a:off x="6172200" y="942975"/>
            <a:ext cx="26511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00C2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$4.9M/breach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58" name="Text 13"/>
          <p:cNvSpPr>
            <a:spLocks noChangeArrowheads="1"/>
          </p:cNvSpPr>
          <p:nvPr/>
        </p:nvSpPr>
        <p:spPr bwMode="auto">
          <a:xfrm>
            <a:off x="6127750" y="1301750"/>
            <a:ext cx="2651125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cost of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en-US" sz="14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 breach (2025)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59" name="Shape 14"/>
          <p:cNvSpPr>
            <a:spLocks noChangeArrowheads="1"/>
          </p:cNvSpPr>
          <p:nvPr/>
        </p:nvSpPr>
        <p:spPr bwMode="auto">
          <a:xfrm>
            <a:off x="320675" y="2405063"/>
            <a:ext cx="53975" cy="274637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60" name="Text 15"/>
          <p:cNvSpPr>
            <a:spLocks noChangeArrowheads="1"/>
          </p:cNvSpPr>
          <p:nvPr/>
        </p:nvSpPr>
        <p:spPr bwMode="auto">
          <a:xfrm>
            <a:off x="457200" y="2378075"/>
            <a:ext cx="832167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Most IDS/IPS systems rely on static signatures ineffective against zero-day &amp; APT attacks.</a:t>
            </a:r>
          </a:p>
        </p:txBody>
      </p:sp>
      <p:sp>
        <p:nvSpPr>
          <p:cNvPr id="6161" name="Shape 16"/>
          <p:cNvSpPr>
            <a:spLocks noChangeArrowheads="1"/>
          </p:cNvSpPr>
          <p:nvPr/>
        </p:nvSpPr>
        <p:spPr bwMode="auto">
          <a:xfrm>
            <a:off x="320675" y="2925763"/>
            <a:ext cx="53975" cy="274637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62" name="Text 17"/>
          <p:cNvSpPr>
            <a:spLocks noChangeArrowheads="1"/>
          </p:cNvSpPr>
          <p:nvPr/>
        </p:nvSpPr>
        <p:spPr bwMode="auto">
          <a:xfrm>
            <a:off x="457200" y="2898775"/>
            <a:ext cx="83216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Incident response remains largely manual, causing dangerous delays in threat containment.</a:t>
            </a:r>
          </a:p>
        </p:txBody>
      </p:sp>
      <p:sp>
        <p:nvSpPr>
          <p:cNvPr id="6163" name="Shape 18"/>
          <p:cNvSpPr>
            <a:spLocks noChangeArrowheads="1"/>
          </p:cNvSpPr>
          <p:nvPr/>
        </p:nvSpPr>
        <p:spPr bwMode="auto">
          <a:xfrm>
            <a:off x="320675" y="3448050"/>
            <a:ext cx="53975" cy="27305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64" name="Text 19"/>
          <p:cNvSpPr>
            <a:spLocks noChangeArrowheads="1"/>
          </p:cNvSpPr>
          <p:nvPr/>
        </p:nvSpPr>
        <p:spPr bwMode="auto">
          <a:xfrm>
            <a:off x="457200" y="3419475"/>
            <a:ext cx="83216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production solution integrates detection + RL decision-making + MTD + self-healing in one closed loop.</a:t>
            </a:r>
          </a:p>
        </p:txBody>
      </p:sp>
      <p:sp>
        <p:nvSpPr>
          <p:cNvPr id="6165" name="Shape 20"/>
          <p:cNvSpPr>
            <a:spLocks noChangeArrowheads="1"/>
          </p:cNvSpPr>
          <p:nvPr/>
        </p:nvSpPr>
        <p:spPr bwMode="auto">
          <a:xfrm>
            <a:off x="320675" y="3968750"/>
            <a:ext cx="53975" cy="27463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66" name="Text 21"/>
          <p:cNvSpPr>
            <a:spLocks noChangeArrowheads="1"/>
          </p:cNvSpPr>
          <p:nvPr/>
        </p:nvSpPr>
        <p:spPr bwMode="auto">
          <a:xfrm>
            <a:off x="457200" y="3941763"/>
            <a:ext cx="832167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there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 autonomous, adaptive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that acts without human intervention.</a:t>
            </a:r>
          </a:p>
        </p:txBody>
      </p:sp>
      <p:sp>
        <p:nvSpPr>
          <p:cNvPr id="6167" name="Shape 0"/>
          <p:cNvSpPr>
            <a:spLocks noChangeArrowheads="1"/>
          </p:cNvSpPr>
          <p:nvPr/>
        </p:nvSpPr>
        <p:spPr bwMode="auto">
          <a:xfrm>
            <a:off x="0" y="0"/>
            <a:ext cx="9144000" cy="658813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68" name="Rectangle 2"/>
          <p:cNvSpPr>
            <a:spLocks noChangeArrowheads="1"/>
          </p:cNvSpPr>
          <p:nvPr/>
        </p:nvSpPr>
        <p:spPr bwMode="auto">
          <a:xfrm>
            <a:off x="25280" y="132373"/>
            <a:ext cx="15632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Motivation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69" name="Shape 0"/>
          <p:cNvSpPr>
            <a:spLocks noChangeArrowheads="1"/>
          </p:cNvSpPr>
          <p:nvPr/>
        </p:nvSpPr>
        <p:spPr bwMode="auto">
          <a:xfrm rot="5400000">
            <a:off x="4548187" y="-3883024"/>
            <a:ext cx="47625" cy="914400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70" name="Rectangle 1"/>
          <p:cNvSpPr>
            <a:spLocks noChangeArrowheads="1"/>
          </p:cNvSpPr>
          <p:nvPr/>
        </p:nvSpPr>
        <p:spPr bwMode="auto">
          <a:xfrm>
            <a:off x="3246438" y="1887538"/>
            <a:ext cx="2651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IBM Security, “Cost of a Data Breach Report 2025”</a:t>
            </a:r>
            <a:endParaRPr lang="en-IN" sz="1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71" name="Rectangle 5"/>
          <p:cNvSpPr>
            <a:spLocks noChangeArrowheads="1"/>
          </p:cNvSpPr>
          <p:nvPr/>
        </p:nvSpPr>
        <p:spPr bwMode="auto">
          <a:xfrm>
            <a:off x="6127750" y="1866900"/>
            <a:ext cx="2651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IBM Security, “Cost of a Data Breach Report 2025”</a:t>
            </a:r>
            <a:endParaRPr lang="en-IN" sz="1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72" name="Rectangle 28"/>
          <p:cNvSpPr>
            <a:spLocks noChangeArrowheads="1"/>
          </p:cNvSpPr>
          <p:nvPr/>
        </p:nvSpPr>
        <p:spPr bwMode="auto">
          <a:xfrm>
            <a:off x="274638" y="1874838"/>
            <a:ext cx="2697162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0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Cybersecurity Ventures, “Cybercrime </a:t>
            </a:r>
          </a:p>
          <a:p>
            <a:r>
              <a:rPr lang="en-US" sz="10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Statistics 2025–2026”</a:t>
            </a:r>
            <a:endParaRPr lang="en-US" sz="1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041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  Problem Statement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4983480"/>
            <a:ext cx="777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14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" y="923585"/>
            <a:ext cx="49665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Windows security systems mainly focus on signature-based detection and short-term anomaly monitoring. However, modern cyber threats such as stealthy malware, insider modifications, configuration drift, persistence mechanisms, and zero-day behavioral changes often evolve gradually during runtime and remain undetected by conventional security tools. Existing solutions generate large volumes of alerts but lack adaptive behavioral understanding of long-term system operations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environments provide rich runtime telemetry sources such as Event Tracing for Windows (ETW),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Sysmon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Event Logs, Performance Counters, and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WMI (Windows Management ,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yet these data sources are not effectively utilized for continuous behavioral drift analysis. As a result, organizations face difficulty in identifying silent operational deviations before they become critical security incidents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adaptive runtime security framework capable of continuously monitoring Windows-based systems, establishing normal behavioral baselines, detecting long-term behavioral drift, and improving operational resilience against evolving and previously unseen threats with minimal system overhead.</a:t>
            </a:r>
          </a:p>
        </p:txBody>
      </p:sp>
      <p:pic>
        <p:nvPicPr>
          <p:cNvPr id="1026" name="Picture 2" descr="Diagram of the four main components of the ETW architec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191" y="603504"/>
            <a:ext cx="2442210" cy="199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1" y="2598695"/>
            <a:ext cx="3921369" cy="22057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 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System  AROS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</a:t>
            </a: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4983480"/>
            <a:ext cx="777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/ 14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6032" y="777240"/>
            <a:ext cx="8631936" cy="82296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8046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Concept: Behavioral Identity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41248" y="1115568"/>
            <a:ext cx="7882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treats each monitored service as having a behavioral identity </a:t>
            </a:r>
            <a:r>
              <a:rPr lang="en-US" sz="950" dirty="0" smtClean="0">
                <a:solidFill>
                  <a:srgbClr val="C8D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</a:t>
            </a:r>
            <a:r>
              <a:rPr lang="en-US" sz="950" dirty="0">
                <a:solidFill>
                  <a:srgbClr val="C8D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stable, multi-dimensional statistical profile derived from runtime telemetry under normal operating conditions. Persistent, statistically significant drift from this identity triggers a security-relevant flag.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56032" y="1737360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" y="1737360"/>
            <a:ext cx="2816352" cy="420624"/>
          </a:xfrm>
          <a:prstGeom prst="rect">
            <a:avLst/>
          </a:prstGeom>
          <a:solidFill>
            <a:srgbClr val="1B6ECA"/>
          </a:solidFill>
          <a:ln w="12700">
            <a:solidFill>
              <a:srgbClr val="1B6EC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79222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4944" y="176479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AROS Does (Phase 1)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84048" y="2231136"/>
            <a:ext cx="259689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Collects CPU, memory, process, network &amp; timing telemetry from a target Windows service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Constructs a multi-dimensional behavioral baseline during defined normal operation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Applies statistical distribution comparison &amp; lightweight ML to detect persistent drift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Evaluates performance: detection latency, FPR, accuracy, overhead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Generates structured logs &amp; drift score visualizations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200400" y="1737360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0" y="1737360"/>
            <a:ext cx="2816352" cy="42062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179222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39312" y="176479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Scope Boundaries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291840" y="2269923"/>
            <a:ext cx="259689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1 deliverables: Detection · Analysis · Baseline Modeling · Evaluation · Literature Survey · </a:t>
            </a:r>
            <a:r>
              <a:rPr lang="en-US" sz="1000" dirty="0" smtClean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</a:t>
            </a:r>
          </a:p>
          <a:p>
            <a:pPr marL="342900" indent="-342900">
              <a:buSzPct val="100000"/>
              <a:buChar char="•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Platform: Windows 10/11 (64-bit)  local controlled </a:t>
            </a:r>
            <a:r>
              <a:rPr lang="en-US" sz="1000" dirty="0" smtClean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</a:t>
            </a:r>
          </a:p>
          <a:p>
            <a:pPr marL="342900" indent="-342900">
              <a:buSzPct val="100000"/>
              <a:buChar char="•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Recovery &amp; self-healing: architecturally specified but NOT implemented in Phase </a:t>
            </a:r>
            <a:r>
              <a:rPr lang="en-US" sz="1000" dirty="0" smtClean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</a:p>
          <a:p>
            <a:pPr marL="342900" indent="-342900">
              <a:buSzPct val="100000"/>
              <a:buChar char="•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Formally scoped as Phase-2 extension to avoid </a:t>
            </a:r>
            <a:r>
              <a:rPr lang="en-US" sz="1000" dirty="0" err="1" smtClean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overclaiming</a:t>
            </a:r>
            <a:endParaRPr lang="en-US" sz="1000" dirty="0" smtClean="0">
              <a:solidFill>
                <a:srgbClr val="2A3A5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real-world network access  fully sandboxed laboratory setting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144768" y="1737360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144768" y="1737360"/>
            <a:ext cx="2816352" cy="420624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179222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83680" y="176479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Innovation Differentiator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6272784" y="2231136"/>
            <a:ext cx="259689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Long-term behavioral drift  not immediate anomaly </a:t>
            </a:r>
            <a:r>
              <a:rPr lang="en-US" sz="1100" dirty="0" smtClean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detection</a:t>
            </a:r>
          </a:p>
          <a:p>
            <a:pPr marL="342900" indent="-342900">
              <a:buSzPct val="10000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Models the identity of an individual service not generic network </a:t>
            </a:r>
            <a:r>
              <a:rPr lang="en-US" sz="1100" dirty="0" smtClean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rules</a:t>
            </a:r>
          </a:p>
          <a:p>
            <a:pPr marL="342900" indent="-342900">
              <a:buSzPct val="10000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Complete measurable pipeline: telemetry → drift quantification → </a:t>
            </a:r>
            <a:r>
              <a:rPr lang="en-US" sz="1100" dirty="0" smtClean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</a:t>
            </a:r>
          </a:p>
          <a:p>
            <a:pPr marL="342900" indent="-342900">
              <a:buSzPct val="10000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are reproducible and academically </a:t>
            </a:r>
            <a:r>
              <a:rPr lang="en-US" sz="1100" dirty="0" smtClean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defensible</a:t>
            </a:r>
          </a:p>
          <a:p>
            <a:pPr marL="342900" indent="-342900">
              <a:buSzPct val="10000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Formalized for Windows runtime an under-addressed research domain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 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 — Phase 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</a:t>
            </a:r>
            <a:r>
              <a:rPr lang="en-US" sz="1100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4983480"/>
            <a:ext cx="777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/ 14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8658" y="121615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Four measurable research &amp; development targets — specific, technically defensible, and evaluable within the project timeline.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8658" y="1545336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658" y="1545336"/>
            <a:ext cx="402336" cy="960120"/>
          </a:xfrm>
          <a:prstGeom prst="rect">
            <a:avLst/>
          </a:prstGeom>
          <a:solidFill>
            <a:srgbClr val="132252"/>
          </a:solidFill>
          <a:ln w="12700">
            <a:solidFill>
              <a:srgbClr val="132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658" y="1545336"/>
            <a:ext cx="402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5858" y="159105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Instrument &amp; Collect Runtime Telemetry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5858" y="1819656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&amp; implement a lightweight telemetry collection module for Windows capturing CPU usage, memory patterns, process activity metrics, network behavior, and system call timing from a target service at configurable sampling intervals.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10930" y="1545336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0930" y="1545336"/>
            <a:ext cx="402336" cy="960120"/>
          </a:xfrm>
          <a:prstGeom prst="rect">
            <a:avLst/>
          </a:prstGeom>
          <a:solidFill>
            <a:srgbClr val="132252"/>
          </a:solidFill>
          <a:ln w="12700">
            <a:solidFill>
              <a:srgbClr val="132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0930" y="1545336"/>
            <a:ext cx="402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68130" y="159105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Construct a Behavioral Baseline Model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68130" y="1819656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a baseline modeling component that aggregates telemetry over a defined normal-operation window and produces a stable, multi-dimensional statistical profile representing behavioral identity — accommodating workload-driven variation without false drift signals.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48658" y="262432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8658" y="2624328"/>
            <a:ext cx="402336" cy="960120"/>
          </a:xfrm>
          <a:prstGeom prst="rect">
            <a:avLst/>
          </a:prstGeom>
          <a:solidFill>
            <a:srgbClr val="132252"/>
          </a:solidFill>
          <a:ln w="12700">
            <a:solidFill>
              <a:srgbClr val="132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8658" y="2624328"/>
            <a:ext cx="402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5858" y="267004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 Persistent Behavioral Drift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5858" y="2898648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a drift detection engine applying statistical distribution comparison and/or lightweight unsupervised ML to identify persistent divergence from the established baseline, with drift severity expressed as a quantifiable score.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10930" y="2624328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10930" y="2624328"/>
            <a:ext cx="402336" cy="960120"/>
          </a:xfrm>
          <a:prstGeom prst="rect">
            <a:avLst/>
          </a:prstGeom>
          <a:solidFill>
            <a:srgbClr val="132252"/>
          </a:solidFill>
          <a:ln w="12700">
            <a:solidFill>
              <a:srgbClr val="132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0930" y="2624328"/>
            <a:ext cx="402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68130" y="267004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 the Framework Against Defined Metrics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68130" y="2898648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Assess detection performance through controlled experiments measuring: (a) Detection Latency, (b) False Positive Rate (FPR), (c) Monitoring Overhead (CPU/memory), and (d) Drift Sensitivity across gradual-change scenarios.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" y="495300"/>
            <a:ext cx="9139141" cy="4648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49530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-1" y="0"/>
            <a:ext cx="54865" cy="4953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 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High-Level Design — Architecture Layers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</a:t>
            </a:r>
            <a:r>
              <a:rPr lang="en-US" sz="1100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66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04.1 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High-Level Design — Architecture Layers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</a:t>
            </a:r>
            <a:r>
              <a:rPr lang="en-US" sz="1100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4983480"/>
            <a:ext cx="777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/ 14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6032" y="74980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Modular 5-layer sequential pipeline — each layer independently testable before integration.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5012"/>
              </p:ext>
            </p:extLst>
          </p:nvPr>
        </p:nvGraphicFramePr>
        <p:xfrm>
          <a:off x="256032" y="1078992"/>
          <a:ext cx="8631936" cy="3675888"/>
        </p:xfrm>
        <a:graphic>
          <a:graphicData uri="http://schemas.openxmlformats.org/drawingml/2006/table">
            <a:tbl>
              <a:tblPr/>
              <a:tblGrid>
                <a:gridCol w="4754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b="1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 Collection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service runtime signals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metric sampling; normalization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Timestamped feature vectors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b="1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Pre-processing &amp; Feature Eng.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metric time series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Windowing; aggregation; outlier filtering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Cleaned, windowed dataset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b="1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Modeling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Normal-operation dataset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profile construction</a:t>
                      </a:r>
                      <a:r>
                        <a:rPr lang="en-US" sz="880" dirty="0" smtClean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880" dirty="0" smtClean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</a:t>
                      </a: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identity model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b="1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Detection Engine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feature vectors + baseline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comparison; drift scoring; persistence check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score; alert flag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b="1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&amp; Evaluation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scores; alert logs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computation (latency, FPR, overhead); visualization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report; drift timeline charts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 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Flow &amp; Processing Pipeline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</a:t>
            </a:r>
            <a:r>
              <a:rPr lang="en-US" sz="1100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4983480"/>
            <a:ext cx="777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/ 14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744" y="804672"/>
            <a:ext cx="1554480" cy="2926080"/>
          </a:xfrm>
          <a:prstGeom prst="rect">
            <a:avLst/>
          </a:prstGeom>
          <a:solidFill>
            <a:srgbClr val="132252"/>
          </a:solidFill>
          <a:ln w="12700">
            <a:solidFill>
              <a:srgbClr val="13225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" y="804672"/>
            <a:ext cx="1554480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8046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 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475488" cy="475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10896" y="173736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Windows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Runtime Telemetry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10896" y="2304288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EE6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CPU · Memory · Process · Network · Timing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828800" y="2176272"/>
            <a:ext cx="118872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952" y="2084832"/>
            <a:ext cx="201168" cy="2011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984248" y="804672"/>
            <a:ext cx="1554480" cy="2926080"/>
          </a:xfrm>
          <a:prstGeom prst="rect">
            <a:avLst/>
          </a:prstGeom>
          <a:solidFill>
            <a:srgbClr val="1565A5"/>
          </a:solidFill>
          <a:ln w="12700">
            <a:solidFill>
              <a:srgbClr val="1565A5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984248" y="804672"/>
            <a:ext cx="1554480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984248" y="8046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 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3744" y="1188720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057400" y="173736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Pre-processing &amp;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Engineering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2057400" y="2304288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EE6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Windowing · Aggregation · Outlier Filtering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575304" y="2176272"/>
            <a:ext cx="118872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2084832"/>
            <a:ext cx="201168" cy="20116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730752" y="804672"/>
            <a:ext cx="1554480" cy="2926080"/>
          </a:xfrm>
          <a:prstGeom prst="rect">
            <a:avLst/>
          </a:prstGeom>
          <a:solidFill>
            <a:srgbClr val="0E4F90"/>
          </a:solidFill>
          <a:ln w="12700">
            <a:solidFill>
              <a:srgbClr val="0E4F9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730752" y="804672"/>
            <a:ext cx="1554480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730752" y="8046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 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0248" y="1188720"/>
            <a:ext cx="475488" cy="4754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03904" y="173736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3803904" y="2304288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EE6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Mean · Variance · Distributional Profile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5321808" y="2176272"/>
            <a:ext cx="118872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084832"/>
            <a:ext cx="201168" cy="201168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5477256" y="804672"/>
            <a:ext cx="1554480" cy="2926080"/>
          </a:xfrm>
          <a:prstGeom prst="rect">
            <a:avLst/>
          </a:prstGeom>
          <a:solidFill>
            <a:srgbClr val="093980"/>
          </a:solidFill>
          <a:ln w="12700">
            <a:solidFill>
              <a:srgbClr val="09398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5477256" y="804672"/>
            <a:ext cx="1554480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477256" y="8046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 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1188720"/>
            <a:ext cx="475488" cy="4754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550408" y="173736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Drift Detection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Engine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5550408" y="2304288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EE6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Distribution Comparison · Drift Scoring · Persistence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7068312" y="2176272"/>
            <a:ext cx="118872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4" y="2084832"/>
            <a:ext cx="201168" cy="201168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7223760" y="804672"/>
            <a:ext cx="1554480" cy="292608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7223760" y="804672"/>
            <a:ext cx="1554480" cy="31089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7223760" y="8046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 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3256" y="1188720"/>
            <a:ext cx="475488" cy="47548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296912" y="173736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Alert &amp; Analysis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5"/>
          <p:cNvSpPr/>
          <p:nvPr/>
        </p:nvSpPr>
        <p:spPr>
          <a:xfrm>
            <a:off x="7296912" y="2304288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EE6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Metrics · Evaluation Report · Timeline Charts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36"/>
          <p:cNvSpPr/>
          <p:nvPr/>
        </p:nvSpPr>
        <p:spPr>
          <a:xfrm>
            <a:off x="256032" y="3858768"/>
            <a:ext cx="8394192" cy="36576"/>
          </a:xfrm>
          <a:prstGeom prst="rect">
            <a:avLst/>
          </a:prstGeom>
          <a:solidFill>
            <a:srgbClr val="1B6ECA"/>
          </a:solidFill>
          <a:ln w="12700">
            <a:solidFill>
              <a:srgbClr val="1B6ECA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256032" y="3858768"/>
            <a:ext cx="36576" cy="457200"/>
          </a:xfrm>
          <a:prstGeom prst="rect">
            <a:avLst/>
          </a:prstGeom>
          <a:solidFill>
            <a:srgbClr val="1B6ECA"/>
          </a:solidFill>
          <a:ln w="12700">
            <a:solidFill>
              <a:srgbClr val="1B6ECA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256032" y="4279392"/>
            <a:ext cx="1664208" cy="36576"/>
          </a:xfrm>
          <a:prstGeom prst="rect">
            <a:avLst/>
          </a:prstGeom>
          <a:solidFill>
            <a:srgbClr val="1B6ECA"/>
          </a:solidFill>
          <a:ln w="12700">
            <a:solidFill>
              <a:srgbClr val="1B6ECA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347472" y="3931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6EC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↑  Feedback Loop: Confirmed normal-behavior windows incrementally update the behavioral baseline to accommodate legitimate long-term evolution.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0"/>
          <p:cNvSpPr/>
          <p:nvPr/>
        </p:nvSpPr>
        <p:spPr>
          <a:xfrm>
            <a:off x="256032" y="4389120"/>
            <a:ext cx="8631936" cy="47548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365760" y="4407408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Drift Event Criteria: Score exceeds defined tolerance threshold  AND  persists across multiple consecutive windows  →  Event logged with timestamp, affected metrics &amp; drift magnitude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 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Tools &amp; Platform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</a:t>
            </a:r>
            <a:r>
              <a:rPr lang="en-US" sz="1100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4983480"/>
            <a:ext cx="777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/ 14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83096" y="1609725"/>
            <a:ext cx="2523744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74536" y="1664589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 Metrics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501384" y="1993773"/>
            <a:ext cx="2487168" cy="320040"/>
          </a:xfrm>
          <a:prstGeom prst="rect">
            <a:avLst/>
          </a:prstGeom>
          <a:solidFill>
            <a:srgbClr val="EAF0FB"/>
          </a:solidFill>
          <a:ln w="6350">
            <a:solidFill>
              <a:srgbClr val="DEE6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56248" y="2012061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Detection Latency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744968" y="2012061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Drift intro → alert time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501384" y="2332101"/>
            <a:ext cx="248716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6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56248" y="2350389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FPR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744968" y="2350389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Incorrect alerts under normal load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501384" y="2670429"/>
            <a:ext cx="2487168" cy="320040"/>
          </a:xfrm>
          <a:prstGeom prst="rect">
            <a:avLst/>
          </a:prstGeom>
          <a:solidFill>
            <a:srgbClr val="EAF0FB"/>
          </a:solidFill>
          <a:ln w="6350">
            <a:solidFill>
              <a:srgbClr val="DEE6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56248" y="2688717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Drift Accuracy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744968" y="2688717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Correctly identified events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501384" y="3008757"/>
            <a:ext cx="248716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E6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56248" y="3027045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Overhead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744968" y="3027045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CPU &amp; memory usage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501384" y="3347085"/>
            <a:ext cx="2487168" cy="320040"/>
          </a:xfrm>
          <a:prstGeom prst="rect">
            <a:avLst/>
          </a:prstGeom>
          <a:solidFill>
            <a:srgbClr val="EAF0FB"/>
          </a:solidFill>
          <a:ln w="6350">
            <a:solidFill>
              <a:srgbClr val="DEE6F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56248" y="336537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Score Stability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744968" y="336537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Variance during normal op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259497"/>
              </p:ext>
            </p:extLst>
          </p:nvPr>
        </p:nvGraphicFramePr>
        <p:xfrm>
          <a:off x="367793" y="804672"/>
          <a:ext cx="5742721" cy="382809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86174"/>
                <a:gridCol w="2112265"/>
                <a:gridCol w="2244282"/>
              </a:tblGrid>
              <a:tr h="340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/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/>
                        <a:t>Tool / 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/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Host Platform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Windows 10 / 11 (64-bit)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Target runtime environment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Telemetry Collection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Python 3.x + psutil / WMI / ETW / Sysmon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Metric sampling &amp; event stream extraction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Event Logging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Sysmon + Windows EVTX (Event Log)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Process, network &amp; registry event capture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Data 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SQLite / CSV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Baseline and runtime data persistence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ML / Statistics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scikit-learn, NumPy, SciPy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Drift detection modeling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Visualization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Matplotlib / Streamlit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Drift score charts and dashboards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Attack Simulation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Controlled config changes / Kali VM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Generating controlled drift scenarios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Deployment 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Agent-Based (SYSTEM) or Agentless (WMI/WinRM)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Flexible on-host or remote collection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Version 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Git / GitHub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Source management and reproducibility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6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Development 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VS 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/>
                        <a:t>Code development and debugging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 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 Framework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</a:t>
            </a:r>
            <a:r>
              <a:rPr lang="en-US" sz="1100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4983480"/>
            <a:ext cx="777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/ 14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6032" y="804672"/>
            <a:ext cx="4251960" cy="4005072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85953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Controlled Experiment Setup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" y="1261872"/>
            <a:ext cx="39776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4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 target Windows service in isolated lab environment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4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 service with AROS telemetry collection module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4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 an initial observation phase to establish behavioral baseline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4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Introduce controlled drift scenarios at known time points: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/>
            <a:r>
              <a:rPr lang="en-US" sz="900" dirty="0">
                <a:solidFill>
                  <a:srgbClr val="F0F4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Configuration changes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/>
            <a:r>
              <a:rPr lang="en-US" sz="900" dirty="0">
                <a:solidFill>
                  <a:srgbClr val="F0F4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Process lifecycle modifications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/>
            <a:r>
              <a:rPr lang="en-US" sz="900" dirty="0">
                <a:solidFill>
                  <a:srgbClr val="F0F4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Gradual behavioral shifts (simulated via Kali VM)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4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detection outcomes against ground truth labels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4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Compute all four evaluation metrics from accumulated alert log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4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 drift score visualizations and evaluation report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26864" y="804672"/>
            <a:ext cx="426110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804672"/>
            <a:ext cx="512064" cy="731520"/>
          </a:xfrm>
          <a:prstGeom prst="rect">
            <a:avLst/>
          </a:prstGeom>
          <a:solidFill>
            <a:srgbClr val="1B6ECA"/>
          </a:solidFill>
          <a:ln w="12700">
            <a:solidFill>
              <a:srgbClr val="1B6E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804672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12080" y="8595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Detection Latency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12080" y="10789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 elapsed from drift introduction to first drift alert generation. Lower = better responsiveness.</a:t>
            </a:r>
            <a:endParaRPr lang="en-US" sz="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26864" y="1609344"/>
            <a:ext cx="426110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609344"/>
            <a:ext cx="512064" cy="7315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609344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12080" y="16642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False Positive Rate (FPR)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12080" y="18836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Proportion of normal-behavior windows incorrectly flagged as drift. Target: &lt; 5% under standard workload.</a:t>
            </a:r>
            <a:endParaRPr lang="en-US" sz="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26864" y="2414016"/>
            <a:ext cx="426110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6864" y="2414016"/>
            <a:ext cx="512064" cy="731520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2414016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212080" y="2468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Drift Detection Accuracy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12080" y="26883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Correctly identified drift events as a fraction of all introduced drift scenarios. Target: &gt; 90%.</a:t>
            </a:r>
            <a:endParaRPr lang="en-US" sz="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26864" y="3218688"/>
            <a:ext cx="426110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3218688"/>
            <a:ext cx="512064" cy="731520"/>
          </a:xfrm>
          <a:prstGeom prst="rect">
            <a:avLst/>
          </a:prstGeom>
          <a:solidFill>
            <a:srgbClr val="8B44E0"/>
          </a:solidFill>
          <a:ln w="12700">
            <a:solidFill>
              <a:srgbClr val="8B44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3218688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12080" y="32735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Monitoring Overhead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12080" y="34930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Additional CPU and memory utilization attributable to AROS telemetry collection and processing pipeline.</a:t>
            </a:r>
            <a:endParaRPr lang="en-US" sz="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626864" y="4023360"/>
            <a:ext cx="426110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26864" y="4023360"/>
            <a:ext cx="512064" cy="7315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4023360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212080" y="40782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Drift Score Stability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212080" y="4297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Variance of drift scores during confirmed normal operation periods. Low variance indicates reliable baseline.</a:t>
            </a:r>
            <a:endParaRPr lang="en-US" sz="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  Literature Survey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</a:t>
            </a:r>
            <a:r>
              <a:rPr lang="en-US" sz="1100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</a:t>
            </a: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Part 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4983480"/>
            <a:ext cx="777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14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0" name="Picture 2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" y="658368"/>
            <a:ext cx="9086850" cy="430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1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 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Gaps in Existing System (2025–26)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</a:t>
            </a:r>
            <a:r>
              <a:rPr lang="en-US" sz="1100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</a:t>
            </a: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Part 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4983480"/>
            <a:ext cx="777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14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6032" y="74980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Six critical research and tooling gaps identified through literature review: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" y="1097280"/>
            <a:ext cx="425196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B6E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097280"/>
            <a:ext cx="45720" cy="1719072"/>
          </a:xfrm>
          <a:prstGeom prst="rect">
            <a:avLst/>
          </a:prstGeom>
          <a:solidFill>
            <a:srgbClr val="1B6ECA"/>
          </a:solidFill>
          <a:ln w="12700">
            <a:solidFill>
              <a:srgbClr val="1B6E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13533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Bias in Detection Systems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1591056"/>
            <a:ext cx="4069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IDS and anomaly detection systems analyze discrete events or short time windows. They are designed for sudden attacks but cannot detect threats that evolve over days or weeks. Long-term behavioral drift falls entirely outside their detection horizon.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36008" y="1097280"/>
            <a:ext cx="425196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B6E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36008" y="1097280"/>
            <a:ext cx="45720" cy="1719072"/>
          </a:xfrm>
          <a:prstGeom prst="rect">
            <a:avLst/>
          </a:prstGeom>
          <a:solidFill>
            <a:srgbClr val="1B6ECA"/>
          </a:solidFill>
          <a:ln w="12700">
            <a:solidFill>
              <a:srgbClr val="1B6E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11430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45736" y="13533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Absence of Behavioral Identity Modeling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45736" y="1591056"/>
            <a:ext cx="4069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current tool models the 'behavioral identity' of a specific software service. Generic thresholds and network-layer signatures cannot distinguish between legitimate workload-driven variation and security-relevant drift.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6032" y="2944368"/>
            <a:ext cx="42519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E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44368"/>
            <a:ext cx="45720" cy="1783080"/>
          </a:xfrm>
          <a:prstGeom prst="rect">
            <a:avLst/>
          </a:prstGeom>
          <a:solidFill>
            <a:srgbClr val="1B6ECA"/>
          </a:solidFill>
          <a:ln w="12700">
            <a:solidFill>
              <a:srgbClr val="1B6E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900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32004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Lack of Drift Persistence Analysis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3438144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Even statistical anomaly tools evaluate each time window in isolation — they cannot determine if a deviation is transient (e.g., a maintenance task) or persistent (e.g., a backdoor gradually increasing outbound traffic). This causes high false-positive rates and missed chronic threats.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36008" y="2944368"/>
            <a:ext cx="4251960" cy="178308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06324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212080" y="3063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Root Cause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736592" y="3456432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three gaps stem from the same fundamental design decision: existing tools optimize for immediate precision, not temporal persistence. AROS addresses this by tracking behavioral identity over long time horizons.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813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 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Gaps in Existing System (2025–26)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</a:t>
            </a:r>
            <a:r>
              <a:rPr lang="en-US" sz="1100" dirty="0" smtClean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</a:t>
            </a: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Part B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4983480"/>
            <a:ext cx="777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/ 14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6032" y="74980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29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Continued — structural gaps specific to Windows-based service-level monitoring: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" y="1097280"/>
            <a:ext cx="425196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B6E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097280"/>
            <a:ext cx="45720" cy="1719072"/>
          </a:xfrm>
          <a:prstGeom prst="rect">
            <a:avLst/>
          </a:prstGeom>
          <a:solidFill>
            <a:srgbClr val="1B6ECA"/>
          </a:solidFill>
          <a:ln w="12700">
            <a:solidFill>
              <a:srgbClr val="1B6E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13533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Windows Runtime Security Under-Addressed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1591056"/>
            <a:ext cx="4069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research on runtime monitoring, behavioral modeling, and drift detection targets Linux or cloud-native environments. Windows-based systems — dominant in enterprise and educational settings — receive comparatively little behavior-centric security research attention.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36008" y="1097280"/>
            <a:ext cx="425196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B6E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36008" y="1097280"/>
            <a:ext cx="45720" cy="1719072"/>
          </a:xfrm>
          <a:prstGeom prst="rect">
            <a:avLst/>
          </a:prstGeom>
          <a:solidFill>
            <a:srgbClr val="1B6ECA"/>
          </a:solidFill>
          <a:ln w="12700">
            <a:solidFill>
              <a:srgbClr val="1B6E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11430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45736" y="13533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Integrated Detect-Analyze-Evaluate Pipeline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45736" y="1591056"/>
            <a:ext cx="4069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research isolates single aspects — feature engineering, ML model accuracy, or system overhead. There is no integrated pipeline from telemetry collection through drift quantification with measurable outcomes in a controlled Windows environment.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6032" y="2944368"/>
            <a:ext cx="42519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E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44368"/>
            <a:ext cx="45720" cy="1783080"/>
          </a:xfrm>
          <a:prstGeom prst="rect">
            <a:avLst/>
          </a:prstGeom>
          <a:solidFill>
            <a:srgbClr val="1B6ECA"/>
          </a:solidFill>
          <a:ln w="12700">
            <a:solidFill>
              <a:srgbClr val="1B6E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900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32004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Recovery Without Detection Foundation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3438144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Self-healing and adaptive recovery are active research areas, but the foundational problem of accurate behavioral drift detection — a prerequisite for meaningful recovery — remains underexplored for Windows runtime service-level monitoring.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36008" y="2944368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36592" y="2990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Gap Summary Matrix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/>
          </p:nvPr>
        </p:nvGraphicFramePr>
        <p:xfrm>
          <a:off x="4681728" y="3291840"/>
          <a:ext cx="4133088" cy="12801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G1–G3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Design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FPR / Missed drift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Coverage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gap in research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Integration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end-to-end eval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Readiness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1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detection foundation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507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hape 0"/>
          <p:cNvSpPr>
            <a:spLocks noChangeArrowheads="1"/>
          </p:cNvSpPr>
          <p:nvPr/>
        </p:nvSpPr>
        <p:spPr bwMode="auto">
          <a:xfrm>
            <a:off x="0" y="0"/>
            <a:ext cx="9144000" cy="658813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7" name="Shape 1"/>
          <p:cNvSpPr>
            <a:spLocks noChangeArrowheads="1"/>
          </p:cNvSpPr>
          <p:nvPr/>
        </p:nvSpPr>
        <p:spPr bwMode="auto">
          <a:xfrm>
            <a:off x="0" y="658813"/>
            <a:ext cx="9144000" cy="49212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Shape 2"/>
          <p:cNvSpPr>
            <a:spLocks noChangeArrowheads="1"/>
          </p:cNvSpPr>
          <p:nvPr/>
        </p:nvSpPr>
        <p:spPr bwMode="auto">
          <a:xfrm>
            <a:off x="0" y="4868863"/>
            <a:ext cx="9144000" cy="274637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9" name="Text 3"/>
          <p:cNvSpPr>
            <a:spLocks noChangeArrowheads="1"/>
          </p:cNvSpPr>
          <p:nvPr/>
        </p:nvSpPr>
        <p:spPr bwMode="auto">
          <a:xfrm>
            <a:off x="0" y="4868863"/>
            <a:ext cx="9144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800">
                <a:solidFill>
                  <a:srgbClr val="6B8F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AROS | Dept. of CSE (ICB), BMSCE | MPP-1</a:t>
            </a: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0" name="Text 4"/>
          <p:cNvSpPr>
            <a:spLocks noChangeArrowheads="1"/>
          </p:cNvSpPr>
          <p:nvPr/>
        </p:nvSpPr>
        <p:spPr bwMode="auto">
          <a:xfrm>
            <a:off x="365125" y="0"/>
            <a:ext cx="8413750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05. Literature Survey  (1/2)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1" name="Shape 5"/>
          <p:cNvSpPr>
            <a:spLocks noChangeArrowheads="1"/>
          </p:cNvSpPr>
          <p:nvPr/>
        </p:nvSpPr>
        <p:spPr bwMode="auto">
          <a:xfrm>
            <a:off x="34925" y="1063625"/>
            <a:ext cx="274638" cy="36512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2" name="Text 6"/>
          <p:cNvSpPr>
            <a:spLocks noChangeArrowheads="1"/>
          </p:cNvSpPr>
          <p:nvPr/>
        </p:nvSpPr>
        <p:spPr bwMode="auto">
          <a:xfrm>
            <a:off x="34925" y="1063625"/>
            <a:ext cx="2746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P.No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3" name="Shape 7"/>
          <p:cNvSpPr>
            <a:spLocks noChangeArrowheads="1"/>
          </p:cNvSpPr>
          <p:nvPr/>
        </p:nvSpPr>
        <p:spPr bwMode="auto">
          <a:xfrm>
            <a:off x="354013" y="1063625"/>
            <a:ext cx="2927350" cy="36512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4" name="Text 8"/>
          <p:cNvSpPr>
            <a:spLocks noChangeArrowheads="1"/>
          </p:cNvSpPr>
          <p:nvPr/>
        </p:nvSpPr>
        <p:spPr bwMode="auto">
          <a:xfrm>
            <a:off x="354013" y="1063625"/>
            <a:ext cx="29273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of Paper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5" name="Shape 9"/>
          <p:cNvSpPr>
            <a:spLocks noChangeArrowheads="1"/>
          </p:cNvSpPr>
          <p:nvPr/>
        </p:nvSpPr>
        <p:spPr bwMode="auto">
          <a:xfrm>
            <a:off x="3325813" y="1063625"/>
            <a:ext cx="457200" cy="36512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6" name="Text 10"/>
          <p:cNvSpPr>
            <a:spLocks noChangeArrowheads="1"/>
          </p:cNvSpPr>
          <p:nvPr/>
        </p:nvSpPr>
        <p:spPr bwMode="auto">
          <a:xfrm>
            <a:off x="3325813" y="1063625"/>
            <a:ext cx="457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7" name="Shape 11"/>
          <p:cNvSpPr>
            <a:spLocks noChangeArrowheads="1"/>
          </p:cNvSpPr>
          <p:nvPr/>
        </p:nvSpPr>
        <p:spPr bwMode="auto">
          <a:xfrm>
            <a:off x="3829050" y="1063625"/>
            <a:ext cx="2560638" cy="36512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8" name="Text 12"/>
          <p:cNvSpPr>
            <a:spLocks noChangeArrowheads="1"/>
          </p:cNvSpPr>
          <p:nvPr/>
        </p:nvSpPr>
        <p:spPr bwMode="auto">
          <a:xfrm>
            <a:off x="3829050" y="1063625"/>
            <a:ext cx="25606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Outcome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9" name="Shape 13"/>
          <p:cNvSpPr>
            <a:spLocks noChangeArrowheads="1"/>
          </p:cNvSpPr>
          <p:nvPr/>
        </p:nvSpPr>
        <p:spPr bwMode="auto">
          <a:xfrm>
            <a:off x="6435725" y="1063625"/>
            <a:ext cx="2560638" cy="36512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00" name="Text 14"/>
          <p:cNvSpPr>
            <a:spLocks noChangeArrowheads="1"/>
          </p:cNvSpPr>
          <p:nvPr/>
        </p:nvSpPr>
        <p:spPr bwMode="auto">
          <a:xfrm>
            <a:off x="6435725" y="1063625"/>
            <a:ext cx="25606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01" name="Shape 15"/>
          <p:cNvSpPr>
            <a:spLocks noChangeArrowheads="1"/>
          </p:cNvSpPr>
          <p:nvPr/>
        </p:nvSpPr>
        <p:spPr bwMode="auto">
          <a:xfrm>
            <a:off x="34925" y="1474788"/>
            <a:ext cx="274638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02" name="Text 16"/>
          <p:cNvSpPr>
            <a:spLocks noChangeArrowheads="1"/>
          </p:cNvSpPr>
          <p:nvPr/>
        </p:nvSpPr>
        <p:spPr bwMode="auto">
          <a:xfrm>
            <a:off x="71438" y="1511300"/>
            <a:ext cx="201612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403" name="Shape 17"/>
          <p:cNvSpPr>
            <a:spLocks noChangeArrowheads="1"/>
          </p:cNvSpPr>
          <p:nvPr/>
        </p:nvSpPr>
        <p:spPr bwMode="auto">
          <a:xfrm>
            <a:off x="354013" y="1474788"/>
            <a:ext cx="2927350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04" name="Text 18"/>
          <p:cNvSpPr>
            <a:spLocks noChangeArrowheads="1"/>
          </p:cNvSpPr>
          <p:nvPr/>
        </p:nvSpPr>
        <p:spPr bwMode="auto">
          <a:xfrm>
            <a:off x="390525" y="1511300"/>
            <a:ext cx="28543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Methods for Cybersecurity: A Survey</a:t>
            </a:r>
          </a:p>
        </p:txBody>
      </p:sp>
      <p:sp>
        <p:nvSpPr>
          <p:cNvPr id="16405" name="Shape 19"/>
          <p:cNvSpPr>
            <a:spLocks noChangeArrowheads="1"/>
          </p:cNvSpPr>
          <p:nvPr/>
        </p:nvSpPr>
        <p:spPr bwMode="auto">
          <a:xfrm>
            <a:off x="3325813" y="1474788"/>
            <a:ext cx="457200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06" name="Text 20"/>
          <p:cNvSpPr>
            <a:spLocks noChangeArrowheads="1"/>
          </p:cNvSpPr>
          <p:nvPr/>
        </p:nvSpPr>
        <p:spPr bwMode="auto">
          <a:xfrm>
            <a:off x="3362325" y="1511300"/>
            <a:ext cx="38417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2025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407" name="Shape 21"/>
          <p:cNvSpPr>
            <a:spLocks noChangeArrowheads="1"/>
          </p:cNvSpPr>
          <p:nvPr/>
        </p:nvSpPr>
        <p:spPr bwMode="auto">
          <a:xfrm>
            <a:off x="3829050" y="1474788"/>
            <a:ext cx="2560638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08" name="Text 22"/>
          <p:cNvSpPr>
            <a:spLocks noChangeArrowheads="1"/>
          </p:cNvSpPr>
          <p:nvPr/>
        </p:nvSpPr>
        <p:spPr bwMode="auto">
          <a:xfrm>
            <a:off x="3865563" y="1454150"/>
            <a:ext cx="2524125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Reviews ML/DL techniques for IDS, including modern datasets, adversarial attacks, and AI-based detection. </a:t>
            </a:r>
          </a:p>
        </p:txBody>
      </p:sp>
      <p:sp>
        <p:nvSpPr>
          <p:cNvPr id="16409" name="Shape 23"/>
          <p:cNvSpPr>
            <a:spLocks noChangeArrowheads="1"/>
          </p:cNvSpPr>
          <p:nvPr/>
        </p:nvSpPr>
        <p:spPr bwMode="auto">
          <a:xfrm>
            <a:off x="6435725" y="1474788"/>
            <a:ext cx="2560638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10" name="Text 24"/>
          <p:cNvSpPr>
            <a:spLocks noChangeArrowheads="1"/>
          </p:cNvSpPr>
          <p:nvPr/>
        </p:nvSpPr>
        <p:spPr bwMode="auto">
          <a:xfrm>
            <a:off x="6472238" y="1511300"/>
            <a:ext cx="2487612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Current IDS lack adaptability, real-time response, and robustness against modern cyber threats.</a:t>
            </a:r>
          </a:p>
        </p:txBody>
      </p:sp>
      <p:sp>
        <p:nvSpPr>
          <p:cNvPr id="16411" name="Shape 25"/>
          <p:cNvSpPr>
            <a:spLocks noChangeArrowheads="1"/>
          </p:cNvSpPr>
          <p:nvPr/>
        </p:nvSpPr>
        <p:spPr bwMode="auto">
          <a:xfrm>
            <a:off x="34925" y="2297113"/>
            <a:ext cx="274638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12" name="Text 26"/>
          <p:cNvSpPr>
            <a:spLocks noChangeArrowheads="1"/>
          </p:cNvSpPr>
          <p:nvPr/>
        </p:nvSpPr>
        <p:spPr bwMode="auto">
          <a:xfrm>
            <a:off x="71438" y="2333625"/>
            <a:ext cx="20161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413" name="Shape 27"/>
          <p:cNvSpPr>
            <a:spLocks noChangeArrowheads="1"/>
          </p:cNvSpPr>
          <p:nvPr/>
        </p:nvSpPr>
        <p:spPr bwMode="auto">
          <a:xfrm>
            <a:off x="354013" y="2297113"/>
            <a:ext cx="2927350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14" name="Text 28"/>
          <p:cNvSpPr>
            <a:spLocks noChangeArrowheads="1"/>
          </p:cNvSpPr>
          <p:nvPr/>
        </p:nvSpPr>
        <p:spPr bwMode="auto">
          <a:xfrm>
            <a:off x="390525" y="2333625"/>
            <a:ext cx="28543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AI-Driven Cybersecurity Framework for Anomaly Detection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415" name="Shape 29"/>
          <p:cNvSpPr>
            <a:spLocks noChangeArrowheads="1"/>
          </p:cNvSpPr>
          <p:nvPr/>
        </p:nvSpPr>
        <p:spPr bwMode="auto">
          <a:xfrm>
            <a:off x="3325813" y="2297113"/>
            <a:ext cx="457200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16" name="Text 30"/>
          <p:cNvSpPr>
            <a:spLocks noChangeArrowheads="1"/>
          </p:cNvSpPr>
          <p:nvPr/>
        </p:nvSpPr>
        <p:spPr bwMode="auto">
          <a:xfrm>
            <a:off x="3362325" y="2333625"/>
            <a:ext cx="3841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2025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417" name="Shape 31"/>
          <p:cNvSpPr>
            <a:spLocks noChangeArrowheads="1"/>
          </p:cNvSpPr>
          <p:nvPr/>
        </p:nvSpPr>
        <p:spPr bwMode="auto">
          <a:xfrm>
            <a:off x="3829050" y="2297113"/>
            <a:ext cx="2560638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18" name="Text 32"/>
          <p:cNvSpPr>
            <a:spLocks noChangeArrowheads="1"/>
          </p:cNvSpPr>
          <p:nvPr/>
        </p:nvSpPr>
        <p:spPr bwMode="auto">
          <a:xfrm>
            <a:off x="3865563" y="2333625"/>
            <a:ext cx="248761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 + Random Forest anomaly detection with high accuracy.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419" name="Shape 33"/>
          <p:cNvSpPr>
            <a:spLocks noChangeArrowheads="1"/>
          </p:cNvSpPr>
          <p:nvPr/>
        </p:nvSpPr>
        <p:spPr bwMode="auto">
          <a:xfrm>
            <a:off x="6435725" y="2297113"/>
            <a:ext cx="2560638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20" name="Text 34"/>
          <p:cNvSpPr>
            <a:spLocks noChangeArrowheads="1"/>
          </p:cNvSpPr>
          <p:nvPr/>
        </p:nvSpPr>
        <p:spPr bwMode="auto">
          <a:xfrm>
            <a:off x="6472238" y="2333625"/>
            <a:ext cx="248761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RL decision-making, dynamic reconfiguration, or autonomous recovery.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421" name="Shape 35"/>
          <p:cNvSpPr>
            <a:spLocks noChangeArrowheads="1"/>
          </p:cNvSpPr>
          <p:nvPr/>
        </p:nvSpPr>
        <p:spPr bwMode="auto">
          <a:xfrm>
            <a:off x="34925" y="3121025"/>
            <a:ext cx="274638" cy="776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22" name="Text 36"/>
          <p:cNvSpPr>
            <a:spLocks noChangeArrowheads="1"/>
          </p:cNvSpPr>
          <p:nvPr/>
        </p:nvSpPr>
        <p:spPr bwMode="auto">
          <a:xfrm>
            <a:off x="71438" y="3157538"/>
            <a:ext cx="201612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423" name="Shape 37"/>
          <p:cNvSpPr>
            <a:spLocks noChangeArrowheads="1"/>
          </p:cNvSpPr>
          <p:nvPr/>
        </p:nvSpPr>
        <p:spPr bwMode="auto">
          <a:xfrm>
            <a:off x="354013" y="3121025"/>
            <a:ext cx="2927350" cy="776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24" name="Text 38"/>
          <p:cNvSpPr>
            <a:spLocks noChangeArrowheads="1"/>
          </p:cNvSpPr>
          <p:nvPr/>
        </p:nvSpPr>
        <p:spPr bwMode="auto">
          <a:xfrm>
            <a:off x="390525" y="3157538"/>
            <a:ext cx="2854325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 Cyber-Physical Security Middleware for IoT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425" name="Shape 39"/>
          <p:cNvSpPr>
            <a:spLocks noChangeArrowheads="1"/>
          </p:cNvSpPr>
          <p:nvPr/>
        </p:nvSpPr>
        <p:spPr bwMode="auto">
          <a:xfrm>
            <a:off x="3325813" y="3121025"/>
            <a:ext cx="457200" cy="776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26" name="Text 40"/>
          <p:cNvSpPr>
            <a:spLocks noChangeArrowheads="1"/>
          </p:cNvSpPr>
          <p:nvPr/>
        </p:nvSpPr>
        <p:spPr bwMode="auto">
          <a:xfrm>
            <a:off x="3362325" y="3157538"/>
            <a:ext cx="384175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2025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427" name="Shape 41"/>
          <p:cNvSpPr>
            <a:spLocks noChangeArrowheads="1"/>
          </p:cNvSpPr>
          <p:nvPr/>
        </p:nvSpPr>
        <p:spPr bwMode="auto">
          <a:xfrm>
            <a:off x="3829050" y="3121025"/>
            <a:ext cx="2560638" cy="776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28" name="Text 42"/>
          <p:cNvSpPr>
            <a:spLocks noChangeArrowheads="1"/>
          </p:cNvSpPr>
          <p:nvPr/>
        </p:nvSpPr>
        <p:spPr bwMode="auto">
          <a:xfrm>
            <a:off x="3865563" y="3157538"/>
            <a:ext cx="2487612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Multi-layer architecture with anomaly detection and automated mitigation.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429" name="Shape 43"/>
          <p:cNvSpPr>
            <a:spLocks noChangeArrowheads="1"/>
          </p:cNvSpPr>
          <p:nvPr/>
        </p:nvSpPr>
        <p:spPr bwMode="auto">
          <a:xfrm>
            <a:off x="6435725" y="3121025"/>
            <a:ext cx="2560638" cy="776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30" name="Text 44"/>
          <p:cNvSpPr>
            <a:spLocks noChangeArrowheads="1"/>
          </p:cNvSpPr>
          <p:nvPr/>
        </p:nvSpPr>
        <p:spPr bwMode="auto">
          <a:xfrm>
            <a:off x="6472238" y="3157538"/>
            <a:ext cx="2487612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RL integration; no complete closed-loop adaptive security framework.</a:t>
            </a:r>
            <a:endParaRPr lang="en-US" sz="14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93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hape 0"/>
          <p:cNvSpPr>
            <a:spLocks noChangeArrowheads="1"/>
          </p:cNvSpPr>
          <p:nvPr/>
        </p:nvSpPr>
        <p:spPr bwMode="auto">
          <a:xfrm>
            <a:off x="0" y="0"/>
            <a:ext cx="9144000" cy="658813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/>
          </a:p>
        </p:txBody>
      </p:sp>
      <p:sp>
        <p:nvSpPr>
          <p:cNvPr id="18435" name="Shape 1"/>
          <p:cNvSpPr>
            <a:spLocks noChangeArrowheads="1"/>
          </p:cNvSpPr>
          <p:nvPr/>
        </p:nvSpPr>
        <p:spPr bwMode="auto">
          <a:xfrm>
            <a:off x="0" y="658813"/>
            <a:ext cx="9144000" cy="49212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/>
          </a:p>
        </p:txBody>
      </p:sp>
      <p:sp>
        <p:nvSpPr>
          <p:cNvPr id="18436" name="Shape 2"/>
          <p:cNvSpPr>
            <a:spLocks noChangeArrowheads="1"/>
          </p:cNvSpPr>
          <p:nvPr/>
        </p:nvSpPr>
        <p:spPr bwMode="auto">
          <a:xfrm>
            <a:off x="0" y="4868863"/>
            <a:ext cx="9144000" cy="274637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/>
          </a:p>
        </p:txBody>
      </p:sp>
      <p:sp>
        <p:nvSpPr>
          <p:cNvPr id="18437" name="Text 3"/>
          <p:cNvSpPr>
            <a:spLocks noChangeArrowheads="1"/>
          </p:cNvSpPr>
          <p:nvPr/>
        </p:nvSpPr>
        <p:spPr bwMode="auto">
          <a:xfrm>
            <a:off x="0" y="4868863"/>
            <a:ext cx="9144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800">
                <a:solidFill>
                  <a:srgbClr val="6B8FA8"/>
                </a:solidFill>
              </a:rPr>
              <a:t>AROS | Dept. of CSE (ICB), BMSCE | MPP-1</a:t>
            </a:r>
            <a:endParaRPr lang="en-US" sz="800"/>
          </a:p>
        </p:txBody>
      </p:sp>
      <p:sp>
        <p:nvSpPr>
          <p:cNvPr id="18438" name="Text 4"/>
          <p:cNvSpPr>
            <a:spLocks noChangeArrowheads="1"/>
          </p:cNvSpPr>
          <p:nvPr/>
        </p:nvSpPr>
        <p:spPr bwMode="auto">
          <a:xfrm>
            <a:off x="365125" y="0"/>
            <a:ext cx="8413750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FFFFFF"/>
                </a:solidFill>
                <a:cs typeface="Calibri" panose="020F0502020204030204" pitchFamily="34" charset="0"/>
              </a:rPr>
              <a:t>Literature Survey  (2/2)</a:t>
            </a:r>
            <a:endParaRPr lang="en-US" sz="2000"/>
          </a:p>
        </p:txBody>
      </p:sp>
      <p:sp>
        <p:nvSpPr>
          <p:cNvPr id="18439" name="Shape 5"/>
          <p:cNvSpPr>
            <a:spLocks noChangeArrowheads="1"/>
          </p:cNvSpPr>
          <p:nvPr/>
        </p:nvSpPr>
        <p:spPr bwMode="auto">
          <a:xfrm>
            <a:off x="74613" y="958850"/>
            <a:ext cx="274637" cy="36512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0" name="Text 6"/>
          <p:cNvSpPr>
            <a:spLocks noChangeArrowheads="1"/>
          </p:cNvSpPr>
          <p:nvPr/>
        </p:nvSpPr>
        <p:spPr bwMode="auto">
          <a:xfrm>
            <a:off x="74613" y="958850"/>
            <a:ext cx="2746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P.No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1" name="Shape 7"/>
          <p:cNvSpPr>
            <a:spLocks noChangeArrowheads="1"/>
          </p:cNvSpPr>
          <p:nvPr/>
        </p:nvSpPr>
        <p:spPr bwMode="auto">
          <a:xfrm>
            <a:off x="393700" y="958850"/>
            <a:ext cx="2927350" cy="36512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2" name="Text 8"/>
          <p:cNvSpPr>
            <a:spLocks noChangeArrowheads="1"/>
          </p:cNvSpPr>
          <p:nvPr/>
        </p:nvSpPr>
        <p:spPr bwMode="auto">
          <a:xfrm>
            <a:off x="393700" y="958850"/>
            <a:ext cx="29273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of Paper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3" name="Shape 9"/>
          <p:cNvSpPr>
            <a:spLocks noChangeArrowheads="1"/>
          </p:cNvSpPr>
          <p:nvPr/>
        </p:nvSpPr>
        <p:spPr bwMode="auto">
          <a:xfrm>
            <a:off x="3365500" y="958850"/>
            <a:ext cx="457200" cy="36512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4" name="Text 10"/>
          <p:cNvSpPr>
            <a:spLocks noChangeArrowheads="1"/>
          </p:cNvSpPr>
          <p:nvPr/>
        </p:nvSpPr>
        <p:spPr bwMode="auto">
          <a:xfrm>
            <a:off x="3365500" y="958850"/>
            <a:ext cx="457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5" name="Shape 11"/>
          <p:cNvSpPr>
            <a:spLocks noChangeArrowheads="1"/>
          </p:cNvSpPr>
          <p:nvPr/>
        </p:nvSpPr>
        <p:spPr bwMode="auto">
          <a:xfrm>
            <a:off x="3868738" y="958850"/>
            <a:ext cx="2560637" cy="36512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6" name="Text 12"/>
          <p:cNvSpPr>
            <a:spLocks noChangeArrowheads="1"/>
          </p:cNvSpPr>
          <p:nvPr/>
        </p:nvSpPr>
        <p:spPr bwMode="auto">
          <a:xfrm>
            <a:off x="3868738" y="958850"/>
            <a:ext cx="25606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Outcome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7" name="Shape 13"/>
          <p:cNvSpPr>
            <a:spLocks noChangeArrowheads="1"/>
          </p:cNvSpPr>
          <p:nvPr/>
        </p:nvSpPr>
        <p:spPr bwMode="auto">
          <a:xfrm>
            <a:off x="6475413" y="958850"/>
            <a:ext cx="2560637" cy="36512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8" name="Text 14"/>
          <p:cNvSpPr>
            <a:spLocks noChangeArrowheads="1"/>
          </p:cNvSpPr>
          <p:nvPr/>
        </p:nvSpPr>
        <p:spPr bwMode="auto">
          <a:xfrm>
            <a:off x="6475413" y="958850"/>
            <a:ext cx="25606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49" name="Shape 15"/>
          <p:cNvSpPr>
            <a:spLocks noChangeArrowheads="1"/>
          </p:cNvSpPr>
          <p:nvPr/>
        </p:nvSpPr>
        <p:spPr bwMode="auto">
          <a:xfrm>
            <a:off x="74613" y="1370013"/>
            <a:ext cx="274637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50" name="Text 16"/>
          <p:cNvSpPr>
            <a:spLocks noChangeArrowheads="1"/>
          </p:cNvSpPr>
          <p:nvPr/>
        </p:nvSpPr>
        <p:spPr bwMode="auto">
          <a:xfrm>
            <a:off x="111125" y="1406525"/>
            <a:ext cx="201613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51" name="Shape 17"/>
          <p:cNvSpPr>
            <a:spLocks noChangeArrowheads="1"/>
          </p:cNvSpPr>
          <p:nvPr/>
        </p:nvSpPr>
        <p:spPr bwMode="auto">
          <a:xfrm>
            <a:off x="393700" y="1370013"/>
            <a:ext cx="2927350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52" name="Text 18"/>
          <p:cNvSpPr>
            <a:spLocks noChangeArrowheads="1"/>
          </p:cNvSpPr>
          <p:nvPr/>
        </p:nvSpPr>
        <p:spPr bwMode="auto">
          <a:xfrm>
            <a:off x="430213" y="1406525"/>
            <a:ext cx="28543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 in Cybersecurity: Emerging Trends</a:t>
            </a:r>
            <a:endParaRPr 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53" name="Shape 19"/>
          <p:cNvSpPr>
            <a:spLocks noChangeArrowheads="1"/>
          </p:cNvSpPr>
          <p:nvPr/>
        </p:nvSpPr>
        <p:spPr bwMode="auto">
          <a:xfrm>
            <a:off x="3365500" y="1370013"/>
            <a:ext cx="457200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54" name="Text 20"/>
          <p:cNvSpPr>
            <a:spLocks noChangeArrowheads="1"/>
          </p:cNvSpPr>
          <p:nvPr/>
        </p:nvSpPr>
        <p:spPr bwMode="auto">
          <a:xfrm>
            <a:off x="3402013" y="1406525"/>
            <a:ext cx="38417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2025</a:t>
            </a:r>
            <a:endParaRPr 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55" name="Shape 21"/>
          <p:cNvSpPr>
            <a:spLocks noChangeArrowheads="1"/>
          </p:cNvSpPr>
          <p:nvPr/>
        </p:nvSpPr>
        <p:spPr bwMode="auto">
          <a:xfrm>
            <a:off x="3868738" y="1370013"/>
            <a:ext cx="2560637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56" name="Text 22"/>
          <p:cNvSpPr>
            <a:spLocks noChangeArrowheads="1"/>
          </p:cNvSpPr>
          <p:nvPr/>
        </p:nvSpPr>
        <p:spPr bwMode="auto">
          <a:xfrm>
            <a:off x="3905250" y="1406525"/>
            <a:ext cx="2487613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applications in intrusion detection, malware analysis, and autonomous security.</a:t>
            </a:r>
            <a:endParaRPr 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57" name="Shape 23"/>
          <p:cNvSpPr>
            <a:spLocks noChangeArrowheads="1"/>
          </p:cNvSpPr>
          <p:nvPr/>
        </p:nvSpPr>
        <p:spPr bwMode="auto">
          <a:xfrm>
            <a:off x="6475413" y="1370013"/>
            <a:ext cx="2560637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58" name="Text 24"/>
          <p:cNvSpPr>
            <a:spLocks noChangeArrowheads="1"/>
          </p:cNvSpPr>
          <p:nvPr/>
        </p:nvSpPr>
        <p:spPr bwMode="auto">
          <a:xfrm>
            <a:off x="6511925" y="1406525"/>
            <a:ext cx="2487613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Theoretical only; no implementation of an integrated adaptive framework.</a:t>
            </a:r>
            <a:endParaRPr 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59" name="Shape 25"/>
          <p:cNvSpPr>
            <a:spLocks noChangeArrowheads="1"/>
          </p:cNvSpPr>
          <p:nvPr/>
        </p:nvSpPr>
        <p:spPr bwMode="auto">
          <a:xfrm>
            <a:off x="74613" y="2192338"/>
            <a:ext cx="274637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60" name="Text 26"/>
          <p:cNvSpPr>
            <a:spLocks noChangeArrowheads="1"/>
          </p:cNvSpPr>
          <p:nvPr/>
        </p:nvSpPr>
        <p:spPr bwMode="auto">
          <a:xfrm>
            <a:off x="111125" y="2228850"/>
            <a:ext cx="20161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61" name="Shape 27"/>
          <p:cNvSpPr>
            <a:spLocks noChangeArrowheads="1"/>
          </p:cNvSpPr>
          <p:nvPr/>
        </p:nvSpPr>
        <p:spPr bwMode="auto">
          <a:xfrm>
            <a:off x="393700" y="2192338"/>
            <a:ext cx="2927350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62" name="Text 28"/>
          <p:cNvSpPr>
            <a:spLocks noChangeArrowheads="1"/>
          </p:cNvSpPr>
          <p:nvPr/>
        </p:nvSpPr>
        <p:spPr bwMode="auto">
          <a:xfrm>
            <a:off x="430213" y="2228850"/>
            <a:ext cx="28543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A Systematic Survey on Intrusion Detection using Deep Learning in Cybersecurity</a:t>
            </a:r>
          </a:p>
        </p:txBody>
      </p:sp>
      <p:sp>
        <p:nvSpPr>
          <p:cNvPr id="18463" name="Shape 29"/>
          <p:cNvSpPr>
            <a:spLocks noChangeArrowheads="1"/>
          </p:cNvSpPr>
          <p:nvPr/>
        </p:nvSpPr>
        <p:spPr bwMode="auto">
          <a:xfrm>
            <a:off x="3365500" y="2192338"/>
            <a:ext cx="457200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64" name="Text 30"/>
          <p:cNvSpPr>
            <a:spLocks noChangeArrowheads="1"/>
          </p:cNvSpPr>
          <p:nvPr/>
        </p:nvSpPr>
        <p:spPr bwMode="auto">
          <a:xfrm>
            <a:off x="3402013" y="2228850"/>
            <a:ext cx="3841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2025</a:t>
            </a:r>
            <a:endParaRPr 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65" name="Shape 31"/>
          <p:cNvSpPr>
            <a:spLocks noChangeArrowheads="1"/>
          </p:cNvSpPr>
          <p:nvPr/>
        </p:nvSpPr>
        <p:spPr bwMode="auto">
          <a:xfrm>
            <a:off x="3868738" y="2192338"/>
            <a:ext cx="2560637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66" name="Text 32"/>
          <p:cNvSpPr>
            <a:spLocks noChangeArrowheads="1"/>
          </p:cNvSpPr>
          <p:nvPr/>
        </p:nvSpPr>
        <p:spPr bwMode="auto">
          <a:xfrm>
            <a:off x="3905250" y="2228850"/>
            <a:ext cx="26066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Covers deep learning architectures (CNN, RNN, transformers) for intrusion detection.</a:t>
            </a:r>
          </a:p>
        </p:txBody>
      </p:sp>
      <p:sp>
        <p:nvSpPr>
          <p:cNvPr id="18467" name="Shape 33"/>
          <p:cNvSpPr>
            <a:spLocks noChangeArrowheads="1"/>
          </p:cNvSpPr>
          <p:nvPr/>
        </p:nvSpPr>
        <p:spPr bwMode="auto">
          <a:xfrm>
            <a:off x="6475413" y="2192338"/>
            <a:ext cx="2560637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68" name="Text 34"/>
          <p:cNvSpPr>
            <a:spLocks noChangeArrowheads="1"/>
          </p:cNvSpPr>
          <p:nvPr/>
        </p:nvSpPr>
        <p:spPr bwMode="auto">
          <a:xfrm>
            <a:off x="6511925" y="2228850"/>
            <a:ext cx="248761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ML-based IDS assume fixed environments, lack adaptability to evolving threats, and fail in real-world dynamic network conditions.</a:t>
            </a:r>
          </a:p>
        </p:txBody>
      </p:sp>
      <p:sp>
        <p:nvSpPr>
          <p:cNvPr id="18469" name="Shape 15"/>
          <p:cNvSpPr>
            <a:spLocks noChangeArrowheads="1"/>
          </p:cNvSpPr>
          <p:nvPr/>
        </p:nvSpPr>
        <p:spPr bwMode="auto">
          <a:xfrm>
            <a:off x="74613" y="2998788"/>
            <a:ext cx="274637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70" name="Text 16"/>
          <p:cNvSpPr>
            <a:spLocks noChangeArrowheads="1"/>
          </p:cNvSpPr>
          <p:nvPr/>
        </p:nvSpPr>
        <p:spPr bwMode="auto">
          <a:xfrm>
            <a:off x="111125" y="3035300"/>
            <a:ext cx="201613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A16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71" name="Shape 17"/>
          <p:cNvSpPr>
            <a:spLocks noChangeArrowheads="1"/>
          </p:cNvSpPr>
          <p:nvPr/>
        </p:nvSpPr>
        <p:spPr bwMode="auto">
          <a:xfrm>
            <a:off x="393700" y="2998788"/>
            <a:ext cx="2927350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for Moving Target defence: Enhancing Cybersecurity Strategies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72" name="Text 18"/>
          <p:cNvSpPr>
            <a:spLocks noChangeArrowheads="1"/>
          </p:cNvSpPr>
          <p:nvPr/>
        </p:nvSpPr>
        <p:spPr bwMode="auto">
          <a:xfrm>
            <a:off x="430213" y="3035300"/>
            <a:ext cx="28543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73" name="Shape 19"/>
          <p:cNvSpPr>
            <a:spLocks noChangeArrowheads="1"/>
          </p:cNvSpPr>
          <p:nvPr/>
        </p:nvSpPr>
        <p:spPr bwMode="auto">
          <a:xfrm>
            <a:off x="3365500" y="2998788"/>
            <a:ext cx="457200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74" name="Text 20"/>
          <p:cNvSpPr>
            <a:spLocks noChangeArrowheads="1"/>
          </p:cNvSpPr>
          <p:nvPr/>
        </p:nvSpPr>
        <p:spPr bwMode="auto">
          <a:xfrm>
            <a:off x="3402013" y="3035300"/>
            <a:ext cx="38417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2025</a:t>
            </a:r>
            <a:endParaRPr 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75" name="Shape 21"/>
          <p:cNvSpPr>
            <a:spLocks noChangeArrowheads="1"/>
          </p:cNvSpPr>
          <p:nvPr/>
        </p:nvSpPr>
        <p:spPr bwMode="auto">
          <a:xfrm>
            <a:off x="3868738" y="2998788"/>
            <a:ext cx="2560637" cy="765175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76" name="Text 22"/>
          <p:cNvSpPr>
            <a:spLocks noChangeArrowheads="1"/>
          </p:cNvSpPr>
          <p:nvPr/>
        </p:nvSpPr>
        <p:spPr bwMode="auto">
          <a:xfrm>
            <a:off x="3905250" y="3035300"/>
            <a:ext cx="2487613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77" name="Shape 23"/>
          <p:cNvSpPr>
            <a:spLocks noChangeArrowheads="1"/>
          </p:cNvSpPr>
          <p:nvPr/>
        </p:nvSpPr>
        <p:spPr bwMode="auto">
          <a:xfrm>
            <a:off x="6475413" y="2998788"/>
            <a:ext cx="2560637" cy="77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78" name="Text 24"/>
          <p:cNvSpPr>
            <a:spLocks noChangeArrowheads="1"/>
          </p:cNvSpPr>
          <p:nvPr/>
        </p:nvSpPr>
        <p:spPr bwMode="auto">
          <a:xfrm>
            <a:off x="6511925" y="3035300"/>
            <a:ext cx="2487613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79" name="Shape 25"/>
          <p:cNvSpPr>
            <a:spLocks noChangeArrowheads="1"/>
          </p:cNvSpPr>
          <p:nvPr/>
        </p:nvSpPr>
        <p:spPr bwMode="auto">
          <a:xfrm>
            <a:off x="74613" y="3811588"/>
            <a:ext cx="274637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80" name="Text 26"/>
          <p:cNvSpPr>
            <a:spLocks noChangeArrowheads="1"/>
          </p:cNvSpPr>
          <p:nvPr/>
        </p:nvSpPr>
        <p:spPr bwMode="auto">
          <a:xfrm>
            <a:off x="111125" y="3848100"/>
            <a:ext cx="20161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A16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81" name="Shape 27"/>
          <p:cNvSpPr>
            <a:spLocks noChangeArrowheads="1"/>
          </p:cNvSpPr>
          <p:nvPr/>
        </p:nvSpPr>
        <p:spPr bwMode="auto">
          <a:xfrm>
            <a:off x="393700" y="3811588"/>
            <a:ext cx="2927350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82" name="Text 28"/>
          <p:cNvSpPr>
            <a:spLocks noChangeArrowheads="1"/>
          </p:cNvSpPr>
          <p:nvPr/>
        </p:nvSpPr>
        <p:spPr bwMode="auto">
          <a:xfrm>
            <a:off x="430213" y="3848100"/>
            <a:ext cx="28543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83" name="Shape 29"/>
          <p:cNvSpPr>
            <a:spLocks noChangeArrowheads="1"/>
          </p:cNvSpPr>
          <p:nvPr/>
        </p:nvSpPr>
        <p:spPr bwMode="auto">
          <a:xfrm>
            <a:off x="3365500" y="3811588"/>
            <a:ext cx="457200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84" name="Text 30"/>
          <p:cNvSpPr>
            <a:spLocks noChangeArrowheads="1"/>
          </p:cNvSpPr>
          <p:nvPr/>
        </p:nvSpPr>
        <p:spPr bwMode="auto">
          <a:xfrm>
            <a:off x="3402013" y="3848100"/>
            <a:ext cx="3841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A162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2025</a:t>
            </a:r>
            <a:endParaRPr lang="en-US" sz="12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85" name="Shape 31"/>
          <p:cNvSpPr>
            <a:spLocks noChangeArrowheads="1"/>
          </p:cNvSpPr>
          <p:nvPr/>
        </p:nvSpPr>
        <p:spPr bwMode="auto">
          <a:xfrm>
            <a:off x="3868738" y="3811588"/>
            <a:ext cx="2560637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86" name="Text 32"/>
          <p:cNvSpPr>
            <a:spLocks noChangeArrowheads="1"/>
          </p:cNvSpPr>
          <p:nvPr/>
        </p:nvSpPr>
        <p:spPr bwMode="auto">
          <a:xfrm>
            <a:off x="3905250" y="3848100"/>
            <a:ext cx="26066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87" name="Shape 33"/>
          <p:cNvSpPr>
            <a:spLocks noChangeArrowheads="1"/>
          </p:cNvSpPr>
          <p:nvPr/>
        </p:nvSpPr>
        <p:spPr bwMode="auto">
          <a:xfrm>
            <a:off x="6475413" y="3811588"/>
            <a:ext cx="2560637" cy="777875"/>
          </a:xfrm>
          <a:prstGeom prst="rect">
            <a:avLst/>
          </a:prstGeom>
          <a:solidFill>
            <a:srgbClr val="F0F6FC"/>
          </a:solidFill>
          <a:ln w="12700">
            <a:solidFill>
              <a:srgbClr val="C8DCE8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sz="1200"/>
              <a:t>Reward design difficulty,</a:t>
            </a:r>
          </a:p>
          <a:p>
            <a:r>
              <a:rPr lang="en-IN" sz="1200"/>
              <a:t>Incomplete system visibility, Poor generalization.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88" name="Text 34"/>
          <p:cNvSpPr>
            <a:spLocks noChangeArrowheads="1"/>
          </p:cNvSpPr>
          <p:nvPr/>
        </p:nvSpPr>
        <p:spPr bwMode="auto">
          <a:xfrm>
            <a:off x="6511925" y="3848100"/>
            <a:ext cx="248761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89" name="Rectangle 1"/>
          <p:cNvSpPr>
            <a:spLocks noChangeArrowheads="1"/>
          </p:cNvSpPr>
          <p:nvPr/>
        </p:nvSpPr>
        <p:spPr bwMode="auto">
          <a:xfrm>
            <a:off x="3822700" y="2955925"/>
            <a:ext cx="2805113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+ game theory to dynamically adapt defense strategies against attackers. Improves system security by enabling adaptive, evolving defense mechanisms against changing threats</a:t>
            </a:r>
            <a:endParaRPr lang="en-I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90" name="Rectangle 38"/>
          <p:cNvSpPr>
            <a:spLocks noChangeArrowheads="1"/>
          </p:cNvSpPr>
          <p:nvPr/>
        </p:nvSpPr>
        <p:spPr bwMode="auto">
          <a:xfrm>
            <a:off x="6429375" y="3176588"/>
            <a:ext cx="26066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real-world validation, Focus mainly on simulation-based testing </a:t>
            </a:r>
          </a:p>
        </p:txBody>
      </p:sp>
      <p:sp>
        <p:nvSpPr>
          <p:cNvPr id="18491" name="Rectangle 4"/>
          <p:cNvSpPr>
            <a:spLocks noChangeArrowheads="1"/>
          </p:cNvSpPr>
          <p:nvPr/>
        </p:nvSpPr>
        <p:spPr bwMode="auto">
          <a:xfrm>
            <a:off x="420688" y="3848100"/>
            <a:ext cx="2971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for Autonomous Resilient Cyber Defence</a:t>
            </a:r>
          </a:p>
        </p:txBody>
      </p:sp>
      <p:sp>
        <p:nvSpPr>
          <p:cNvPr id="18492" name="Rectangle 5"/>
          <p:cNvSpPr>
            <a:spLocks noChangeArrowheads="1"/>
          </p:cNvSpPr>
          <p:nvPr/>
        </p:nvSpPr>
        <p:spPr bwMode="auto">
          <a:xfrm>
            <a:off x="3832225" y="3817938"/>
            <a:ext cx="28321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for autonomous cyber defence decision making, Enables self-adaptive and resilient response to dynamic cyber threats</a:t>
            </a:r>
          </a:p>
        </p:txBody>
      </p:sp>
    </p:spTree>
    <p:extLst>
      <p:ext uri="{BB962C8B-B14F-4D97-AF65-F5344CB8AC3E}">
        <p14:creationId xmlns:p14="http://schemas.microsoft.com/office/powerpoint/2010/main" val="15953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  REVIEW OF PROJECT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6 — Part 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A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— Adaptive Resilience &amp; Operational Security | Phase 1 | Academic Year 2025–26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0" y="4983480"/>
            <a:ext cx="777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 / 14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6032" y="74980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9219" y="739927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219" y="739927"/>
            <a:ext cx="4206240" cy="347472"/>
          </a:xfrm>
          <a:prstGeom prst="rect">
            <a:avLst/>
          </a:prstGeom>
          <a:solidFill>
            <a:srgbClr val="132252"/>
          </a:solidFill>
          <a:ln w="12700">
            <a:solidFill>
              <a:srgbClr val="132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659" y="739927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TP1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6147" y="739927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problem are you solving?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7235" y="1160551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security tools detect immediate attacks or known signatures. AROS addresses a different threat class: slow, stealthy behavioral drift in runtime systems that develops over days or weeks and is missed by conventional alerting. We model what normal looks like for a specific Windows service and detect when that changes persistently.</a:t>
            </a:r>
            <a:endParaRPr lang="en-US" sz="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46627" y="739927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46627" y="739927"/>
            <a:ext cx="4206240" cy="347472"/>
          </a:xfrm>
          <a:prstGeom prst="rect">
            <a:avLst/>
          </a:prstGeom>
          <a:solidFill>
            <a:srgbClr val="132252"/>
          </a:solidFill>
          <a:ln w="12700">
            <a:solidFill>
              <a:srgbClr val="132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8067" y="739927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TP2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13555" y="739927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is this novel not just another IDS?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74643" y="1160551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IDS looks for sudden deviations or known signatures. AROS looks for gradual departure from a service-specific behavioral identity over long time windows. The novelty lies in modeling behavioral identity, applying drift persistence checks, and producing quantified drift scores  not matching rules or signatures.</a:t>
            </a:r>
            <a:endParaRPr lang="en-US" sz="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39219" y="2641879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9219" y="2641879"/>
            <a:ext cx="4206240" cy="347472"/>
          </a:xfrm>
          <a:prstGeom prst="rect">
            <a:avLst/>
          </a:prstGeom>
          <a:solidFill>
            <a:srgbClr val="132252"/>
          </a:solidFill>
          <a:ln w="12700">
            <a:solidFill>
              <a:srgbClr val="132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659" y="2641879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TP3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6147" y="2641879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will you measure success?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7235" y="3062503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 define four concrete metrics: detection latency, false positive rate, drift detection accuracy, and monitoring overhead. All are computed from controlled experiments where drift is introduced at known time points — making results reproducible and comparable against ground truth.</a:t>
            </a:r>
            <a:endParaRPr lang="en-US" sz="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46627" y="2641879"/>
            <a:ext cx="4206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6627" y="2641879"/>
            <a:ext cx="4206240" cy="347472"/>
          </a:xfrm>
          <a:prstGeom prst="rect">
            <a:avLst/>
          </a:prstGeom>
          <a:solidFill>
            <a:srgbClr val="132252"/>
          </a:solidFill>
          <a:ln w="12700">
            <a:solidFill>
              <a:srgbClr val="132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8067" y="2641879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TP4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13555" y="2641879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the scope and why is recovery not in Phase 1?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74643" y="3062503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1 delivers the complete detection and analysis pipeline with measurable evaluation. Recovery is architecturally designed but not implemented in Phase 1. This is intentional — recovery without an accurate detection foundation would produce unstable results. We avoid overclaiming.</a:t>
            </a:r>
            <a:endParaRPr lang="en-US" sz="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xmlns="" id="{08DC4F60-E490-4CAA-AFE2-7AC81EDEFEFA}"/>
              </a:ext>
            </a:extLst>
          </p:cNvPr>
          <p:cNvSpPr/>
          <p:nvPr/>
        </p:nvSpPr>
        <p:spPr>
          <a:xfrm>
            <a:off x="284939" y="4466402"/>
            <a:ext cx="8467344" cy="472833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xmlns="" id="{31B659C5-F450-42B2-B688-EAA9EC072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62" y="4529050"/>
            <a:ext cx="322907" cy="322907"/>
          </a:xfrm>
          <a:prstGeom prst="rect">
            <a:avLst/>
          </a:prstGeom>
        </p:spPr>
      </p:pic>
      <p:sp>
        <p:nvSpPr>
          <p:cNvPr id="32" name="Text 26">
            <a:extLst>
              <a:ext uri="{FF2B5EF4-FFF2-40B4-BE49-F238E27FC236}">
                <a16:creationId xmlns:a16="http://schemas.microsoft.com/office/drawing/2014/main" xmlns="" id="{5E9C5483-5834-4CB1-B9D3-CB3CA692A50D}"/>
              </a:ext>
            </a:extLst>
          </p:cNvPr>
          <p:cNvSpPr/>
          <p:nvPr/>
        </p:nvSpPr>
        <p:spPr>
          <a:xfrm>
            <a:off x="815291" y="4490838"/>
            <a:ext cx="7785651" cy="41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AROS Research Positioning: Fills the gap between network-level IDS research and cloud self-healing providing service-level behavioral identity modeling for Windows runtime environments. A research prototype with formalized, measurable outcomes.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548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  Guide Review Talking Points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0" y="109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6 — Part B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A40"/>
          </a:solidFill>
          <a:ln w="12700">
            <a:solidFill>
              <a:srgbClr val="0B1A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737" y="1280160"/>
            <a:ext cx="863193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4737" y="1280160"/>
            <a:ext cx="658368" cy="1261872"/>
          </a:xfrm>
          <a:prstGeom prst="rect">
            <a:avLst/>
          </a:prstGeom>
          <a:solidFill>
            <a:srgbClr val="132252"/>
          </a:solidFill>
          <a:ln w="12700">
            <a:solidFill>
              <a:srgbClr val="132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737" y="1280160"/>
            <a:ext cx="658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TP5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73105" y="1280160"/>
            <a:ext cx="7973568" cy="365760"/>
          </a:xfrm>
          <a:prstGeom prst="rect">
            <a:avLst/>
          </a:prstGeom>
          <a:solidFill>
            <a:srgbClr val="EAF0FB"/>
          </a:solidFill>
          <a:ln w="6350">
            <a:solidFill>
              <a:srgbClr val="DEE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545" y="1316736"/>
            <a:ext cx="7790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 this realistic for a student project?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4545" y="1700784"/>
            <a:ext cx="7790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Yes. We monitor one Windows service in a controlled local environment using standard Python libraries and system telemetry. No heavy compute, no GPU, no real-world network access. The scope is bounded and executable within the Phase-1 timeline. The controlled lab setting ensures reproducibility.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14737" y="2670048"/>
            <a:ext cx="863193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6F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4737" y="2670048"/>
            <a:ext cx="658368" cy="1261872"/>
          </a:xfrm>
          <a:prstGeom prst="rect">
            <a:avLst/>
          </a:prstGeom>
          <a:solidFill>
            <a:srgbClr val="132252"/>
          </a:solidFill>
          <a:ln w="12700">
            <a:solidFill>
              <a:srgbClr val="132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737" y="2670048"/>
            <a:ext cx="6583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TP6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73105" y="2670048"/>
            <a:ext cx="7973568" cy="365760"/>
          </a:xfrm>
          <a:prstGeom prst="rect">
            <a:avLst/>
          </a:prstGeom>
          <a:solidFill>
            <a:srgbClr val="EAF0FB"/>
          </a:solidFill>
          <a:ln w="6350">
            <a:solidFill>
              <a:srgbClr val="DEE6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545" y="2706624"/>
            <a:ext cx="7790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A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the research contribution?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4545" y="3090672"/>
            <a:ext cx="7790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3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formalization of behavioral drift detection for Windows runtime systems: defining what constitutes behavioral identity, designing persistence-based drift scoring, and evaluating the pipeline with quantified metrics. This positions AROS as a research prototype rather than a product implementation.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2764</Words>
  <Application>Microsoft Office PowerPoint</Application>
  <PresentationFormat>On-screen Show (16:9)</PresentationFormat>
  <Paragraphs>379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14</cp:revision>
  <dcterms:modified xsi:type="dcterms:W3CDTF">2026-05-11T04:45:41Z</dcterms:modified>
</cp:coreProperties>
</file>